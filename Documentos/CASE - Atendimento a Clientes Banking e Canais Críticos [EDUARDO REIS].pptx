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2C_7FA49CEA.xml" ContentType="application/vnd.ms-powerpoint.comment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300" r:id="rId6"/>
    <p:sldId id="299" r:id="rId7"/>
    <p:sldId id="286" r:id="rId8"/>
    <p:sldId id="295" r:id="rId9"/>
    <p:sldId id="301" r:id="rId10"/>
    <p:sldId id="292" r:id="rId11"/>
    <p:sldId id="302" r:id="rId12"/>
    <p:sldId id="303" r:id="rId13"/>
    <p:sldId id="296" r:id="rId14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E63A5CDC-C54E-C0C9-5EF1-6CE767BE12CD}" name="Eduardo Cardoso dos Reis" initials="EC" userId="587047d871f8f2a1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646" autoAdjust="0"/>
  </p:normalViewPr>
  <p:slideViewPr>
    <p:cSldViewPr snapToGrid="0">
      <p:cViewPr varScale="1">
        <p:scale>
          <a:sx n="59" d="100"/>
          <a:sy n="59" d="100"/>
        </p:scale>
        <p:origin x="148" y="76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82" d="100"/>
          <a:sy n="82" d="100"/>
        </p:scale>
        <p:origin x="392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Pasta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Pasta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se_BancoPan\data\insights\insights-final\excel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t-BR" sz="1400" b="1" i="0" u="none" strike="noStrike" baseline="0" dirty="0"/>
              <a:t>Comparativo de Bases por UF (media)</a:t>
            </a:r>
            <a:endParaRPr lang="pt-BR" dirty="0"/>
          </a:p>
        </c:rich>
      </c:tx>
      <c:layout>
        <c:manualLayout>
          <c:xMode val="edge"/>
          <c:yMode val="edge"/>
          <c:x val="0.40793273655591655"/>
          <c:y val="4.466470538530384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3.9908874671916013E-2"/>
          <c:y val="0.23584104822302288"/>
          <c:w val="0.9486327919947507"/>
          <c:h val="0.6696253875390113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Divergencia_Qtd_uf!$B$1</c:f>
              <c:strCache>
                <c:ptCount val="1"/>
                <c:pt idx="0">
                  <c:v>Qtd_BaseGeral</c:v>
                </c:pt>
              </c:strCache>
            </c:strRef>
          </c:tx>
          <c:spPr>
            <a:solidFill>
              <a:schemeClr val="accent4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Divergencia_Qtd_uf!$A$2:$A$25</c:f>
              <c:strCache>
                <c:ptCount val="24"/>
                <c:pt idx="0">
                  <c:v>PE</c:v>
                </c:pt>
                <c:pt idx="1">
                  <c:v>PB</c:v>
                </c:pt>
                <c:pt idx="2">
                  <c:v>PA</c:v>
                </c:pt>
                <c:pt idx="3">
                  <c:v>RS</c:v>
                </c:pt>
                <c:pt idx="4">
                  <c:v>AC</c:v>
                </c:pt>
                <c:pt idx="5">
                  <c:v>BA</c:v>
                </c:pt>
                <c:pt idx="6">
                  <c:v>SC</c:v>
                </c:pt>
                <c:pt idx="7">
                  <c:v>MA</c:v>
                </c:pt>
                <c:pt idx="8">
                  <c:v>RO</c:v>
                </c:pt>
                <c:pt idx="9">
                  <c:v>DF</c:v>
                </c:pt>
                <c:pt idx="10">
                  <c:v>MT</c:v>
                </c:pt>
                <c:pt idx="11">
                  <c:v>PR</c:v>
                </c:pt>
                <c:pt idx="12">
                  <c:v>CE</c:v>
                </c:pt>
                <c:pt idx="13">
                  <c:v>AL</c:v>
                </c:pt>
                <c:pt idx="14">
                  <c:v>RR</c:v>
                </c:pt>
                <c:pt idx="15">
                  <c:v>MG</c:v>
                </c:pt>
                <c:pt idx="16">
                  <c:v>MS</c:v>
                </c:pt>
                <c:pt idx="17">
                  <c:v>GO</c:v>
                </c:pt>
                <c:pt idx="18">
                  <c:v>RN</c:v>
                </c:pt>
                <c:pt idx="19">
                  <c:v>AP</c:v>
                </c:pt>
                <c:pt idx="20">
                  <c:v>RJ</c:v>
                </c:pt>
                <c:pt idx="21">
                  <c:v>ES</c:v>
                </c:pt>
                <c:pt idx="22">
                  <c:v>AM</c:v>
                </c:pt>
                <c:pt idx="23">
                  <c:v>PI</c:v>
                </c:pt>
              </c:strCache>
            </c:strRef>
          </c:cat>
          <c:val>
            <c:numRef>
              <c:f>Divergencia_Qtd_uf!$B$2:$B$25</c:f>
              <c:numCache>
                <c:formatCode>General</c:formatCode>
                <c:ptCount val="24"/>
                <c:pt idx="0">
                  <c:v>1895</c:v>
                </c:pt>
                <c:pt idx="1">
                  <c:v>1897</c:v>
                </c:pt>
                <c:pt idx="2">
                  <c:v>1897</c:v>
                </c:pt>
                <c:pt idx="3">
                  <c:v>1897</c:v>
                </c:pt>
                <c:pt idx="4">
                  <c:v>1901</c:v>
                </c:pt>
                <c:pt idx="5">
                  <c:v>1900</c:v>
                </c:pt>
                <c:pt idx="6">
                  <c:v>1897</c:v>
                </c:pt>
                <c:pt idx="7">
                  <c:v>1901</c:v>
                </c:pt>
                <c:pt idx="8">
                  <c:v>1900</c:v>
                </c:pt>
                <c:pt idx="9">
                  <c:v>1900</c:v>
                </c:pt>
                <c:pt idx="10">
                  <c:v>1920</c:v>
                </c:pt>
                <c:pt idx="11">
                  <c:v>1908</c:v>
                </c:pt>
                <c:pt idx="12">
                  <c:v>1900</c:v>
                </c:pt>
                <c:pt idx="13">
                  <c:v>1899</c:v>
                </c:pt>
                <c:pt idx="14">
                  <c:v>1910</c:v>
                </c:pt>
                <c:pt idx="15">
                  <c:v>1911</c:v>
                </c:pt>
                <c:pt idx="16">
                  <c:v>1915</c:v>
                </c:pt>
                <c:pt idx="17">
                  <c:v>1901</c:v>
                </c:pt>
                <c:pt idx="18">
                  <c:v>1900</c:v>
                </c:pt>
                <c:pt idx="19">
                  <c:v>1900</c:v>
                </c:pt>
                <c:pt idx="20">
                  <c:v>1897</c:v>
                </c:pt>
                <c:pt idx="21">
                  <c:v>1901</c:v>
                </c:pt>
                <c:pt idx="22">
                  <c:v>1904</c:v>
                </c:pt>
                <c:pt idx="23">
                  <c:v>1897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B4-4B2B-9422-2BE3DFD08C85}"/>
            </c:ext>
          </c:extLst>
        </c:ser>
        <c:ser>
          <c:idx val="1"/>
          <c:order val="1"/>
          <c:tx>
            <c:strRef>
              <c:f>Divergencia_Qtd_uf!$C$1</c:f>
              <c:strCache>
                <c:ptCount val="1"/>
                <c:pt idx="0">
                  <c:v>Qtd_BaseUF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Divergencia_Qtd_uf!$A$2:$A$25</c:f>
              <c:strCache>
                <c:ptCount val="24"/>
                <c:pt idx="0">
                  <c:v>PE</c:v>
                </c:pt>
                <c:pt idx="1">
                  <c:v>PB</c:v>
                </c:pt>
                <c:pt idx="2">
                  <c:v>PA</c:v>
                </c:pt>
                <c:pt idx="3">
                  <c:v>RS</c:v>
                </c:pt>
                <c:pt idx="4">
                  <c:v>AC</c:v>
                </c:pt>
                <c:pt idx="5">
                  <c:v>BA</c:v>
                </c:pt>
                <c:pt idx="6">
                  <c:v>SC</c:v>
                </c:pt>
                <c:pt idx="7">
                  <c:v>MA</c:v>
                </c:pt>
                <c:pt idx="8">
                  <c:v>RO</c:v>
                </c:pt>
                <c:pt idx="9">
                  <c:v>DF</c:v>
                </c:pt>
                <c:pt idx="10">
                  <c:v>MT</c:v>
                </c:pt>
                <c:pt idx="11">
                  <c:v>PR</c:v>
                </c:pt>
                <c:pt idx="12">
                  <c:v>CE</c:v>
                </c:pt>
                <c:pt idx="13">
                  <c:v>AL</c:v>
                </c:pt>
                <c:pt idx="14">
                  <c:v>RR</c:v>
                </c:pt>
                <c:pt idx="15">
                  <c:v>MG</c:v>
                </c:pt>
                <c:pt idx="16">
                  <c:v>MS</c:v>
                </c:pt>
                <c:pt idx="17">
                  <c:v>GO</c:v>
                </c:pt>
                <c:pt idx="18">
                  <c:v>RN</c:v>
                </c:pt>
                <c:pt idx="19">
                  <c:v>AP</c:v>
                </c:pt>
                <c:pt idx="20">
                  <c:v>RJ</c:v>
                </c:pt>
                <c:pt idx="21">
                  <c:v>ES</c:v>
                </c:pt>
                <c:pt idx="22">
                  <c:v>AM</c:v>
                </c:pt>
                <c:pt idx="23">
                  <c:v>PI</c:v>
                </c:pt>
              </c:strCache>
            </c:strRef>
          </c:cat>
          <c:val>
            <c:numRef>
              <c:f>Divergencia_Qtd_uf!$C$2:$C$25</c:f>
              <c:numCache>
                <c:formatCode>General</c:formatCode>
                <c:ptCount val="24"/>
                <c:pt idx="0">
                  <c:v>27531</c:v>
                </c:pt>
                <c:pt idx="1">
                  <c:v>27533</c:v>
                </c:pt>
                <c:pt idx="2">
                  <c:v>27533</c:v>
                </c:pt>
                <c:pt idx="3">
                  <c:v>27533</c:v>
                </c:pt>
                <c:pt idx="4">
                  <c:v>27537</c:v>
                </c:pt>
                <c:pt idx="5">
                  <c:v>27536</c:v>
                </c:pt>
                <c:pt idx="6">
                  <c:v>27533</c:v>
                </c:pt>
                <c:pt idx="7">
                  <c:v>27537</c:v>
                </c:pt>
                <c:pt idx="8">
                  <c:v>27536</c:v>
                </c:pt>
                <c:pt idx="9">
                  <c:v>27536</c:v>
                </c:pt>
                <c:pt idx="10">
                  <c:v>27556</c:v>
                </c:pt>
                <c:pt idx="11">
                  <c:v>27544</c:v>
                </c:pt>
                <c:pt idx="12">
                  <c:v>27536</c:v>
                </c:pt>
                <c:pt idx="13">
                  <c:v>27535</c:v>
                </c:pt>
                <c:pt idx="14">
                  <c:v>27546</c:v>
                </c:pt>
                <c:pt idx="15">
                  <c:v>27547</c:v>
                </c:pt>
                <c:pt idx="16">
                  <c:v>27551</c:v>
                </c:pt>
                <c:pt idx="17">
                  <c:v>27537</c:v>
                </c:pt>
                <c:pt idx="18">
                  <c:v>27536</c:v>
                </c:pt>
                <c:pt idx="19">
                  <c:v>27536</c:v>
                </c:pt>
                <c:pt idx="20">
                  <c:v>27533</c:v>
                </c:pt>
                <c:pt idx="21">
                  <c:v>27537</c:v>
                </c:pt>
                <c:pt idx="22">
                  <c:v>27540</c:v>
                </c:pt>
                <c:pt idx="23">
                  <c:v>27533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B4-4B2B-9422-2BE3DFD08C85}"/>
            </c:ext>
          </c:extLst>
        </c:ser>
        <c:ser>
          <c:idx val="2"/>
          <c:order val="2"/>
          <c:tx>
            <c:strRef>
              <c:f>Divergencia_Qtd_uf!$D$1</c:f>
              <c:strCache>
                <c:ptCount val="1"/>
                <c:pt idx="0">
                  <c:v>Diferença</c:v>
                </c:pt>
              </c:strCache>
            </c:strRef>
          </c:tx>
          <c:spPr>
            <a:solidFill>
              <a:schemeClr val="accent4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Divergencia_Qtd_uf!$A$2:$A$25</c:f>
              <c:strCache>
                <c:ptCount val="24"/>
                <c:pt idx="0">
                  <c:v>PE</c:v>
                </c:pt>
                <c:pt idx="1">
                  <c:v>PB</c:v>
                </c:pt>
                <c:pt idx="2">
                  <c:v>PA</c:v>
                </c:pt>
                <c:pt idx="3">
                  <c:v>RS</c:v>
                </c:pt>
                <c:pt idx="4">
                  <c:v>AC</c:v>
                </c:pt>
                <c:pt idx="5">
                  <c:v>BA</c:v>
                </c:pt>
                <c:pt idx="6">
                  <c:v>SC</c:v>
                </c:pt>
                <c:pt idx="7">
                  <c:v>MA</c:v>
                </c:pt>
                <c:pt idx="8">
                  <c:v>RO</c:v>
                </c:pt>
                <c:pt idx="9">
                  <c:v>DF</c:v>
                </c:pt>
                <c:pt idx="10">
                  <c:v>MT</c:v>
                </c:pt>
                <c:pt idx="11">
                  <c:v>PR</c:v>
                </c:pt>
                <c:pt idx="12">
                  <c:v>CE</c:v>
                </c:pt>
                <c:pt idx="13">
                  <c:v>AL</c:v>
                </c:pt>
                <c:pt idx="14">
                  <c:v>RR</c:v>
                </c:pt>
                <c:pt idx="15">
                  <c:v>MG</c:v>
                </c:pt>
                <c:pt idx="16">
                  <c:v>MS</c:v>
                </c:pt>
                <c:pt idx="17">
                  <c:v>GO</c:v>
                </c:pt>
                <c:pt idx="18">
                  <c:v>RN</c:v>
                </c:pt>
                <c:pt idx="19">
                  <c:v>AP</c:v>
                </c:pt>
                <c:pt idx="20">
                  <c:v>RJ</c:v>
                </c:pt>
                <c:pt idx="21">
                  <c:v>ES</c:v>
                </c:pt>
                <c:pt idx="22">
                  <c:v>AM</c:v>
                </c:pt>
                <c:pt idx="23">
                  <c:v>PI</c:v>
                </c:pt>
              </c:strCache>
            </c:strRef>
          </c:cat>
          <c:val>
            <c:numRef>
              <c:f>Divergencia_Qtd_uf!$D$2:$D$25</c:f>
              <c:numCache>
                <c:formatCode>General</c:formatCode>
                <c:ptCount val="24"/>
                <c:pt idx="0">
                  <c:v>25636</c:v>
                </c:pt>
                <c:pt idx="1">
                  <c:v>25636</c:v>
                </c:pt>
                <c:pt idx="2">
                  <c:v>25636</c:v>
                </c:pt>
                <c:pt idx="3">
                  <c:v>25636</c:v>
                </c:pt>
                <c:pt idx="4">
                  <c:v>25636</c:v>
                </c:pt>
                <c:pt idx="5">
                  <c:v>25636</c:v>
                </c:pt>
                <c:pt idx="6">
                  <c:v>25636</c:v>
                </c:pt>
                <c:pt idx="7">
                  <c:v>25636</c:v>
                </c:pt>
                <c:pt idx="8">
                  <c:v>25636</c:v>
                </c:pt>
                <c:pt idx="9">
                  <c:v>25636</c:v>
                </c:pt>
                <c:pt idx="10">
                  <c:v>25636</c:v>
                </c:pt>
                <c:pt idx="11">
                  <c:v>25636</c:v>
                </c:pt>
                <c:pt idx="12">
                  <c:v>25636</c:v>
                </c:pt>
                <c:pt idx="13">
                  <c:v>25636</c:v>
                </c:pt>
                <c:pt idx="14">
                  <c:v>25636</c:v>
                </c:pt>
                <c:pt idx="15">
                  <c:v>25636</c:v>
                </c:pt>
                <c:pt idx="16">
                  <c:v>25636</c:v>
                </c:pt>
                <c:pt idx="17">
                  <c:v>25636</c:v>
                </c:pt>
                <c:pt idx="18">
                  <c:v>25636</c:v>
                </c:pt>
                <c:pt idx="19">
                  <c:v>25636</c:v>
                </c:pt>
                <c:pt idx="20">
                  <c:v>25636</c:v>
                </c:pt>
                <c:pt idx="21">
                  <c:v>25636</c:v>
                </c:pt>
                <c:pt idx="22">
                  <c:v>25636</c:v>
                </c:pt>
                <c:pt idx="23">
                  <c:v>25636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B4-4B2B-9422-2BE3DFD08C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692271"/>
        <c:axId val="17693231"/>
      </c:barChart>
      <c:catAx>
        <c:axId val="176922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693231"/>
        <c:crosses val="autoZero"/>
        <c:auto val="1"/>
        <c:lblAlgn val="ctr"/>
        <c:lblOffset val="100"/>
        <c:noMultiLvlLbl val="0"/>
      </c:catAx>
      <c:valAx>
        <c:axId val="1769323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6922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1.3499214804391197E-2"/>
          <c:y val="2.1986383694923031E-2"/>
          <c:w val="0.34949782125088402"/>
          <c:h val="9.14181581774568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t-BR" sz="1400" b="1" i="0" u="none" strike="noStrike" baseline="0" dirty="0"/>
              <a:t>UF e idade </a:t>
            </a:r>
            <a:r>
              <a:rPr lang="pt-BR" dirty="0"/>
              <a:t>(média)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3.9908874671916013E-2"/>
          <c:y val="0.14529152945734286"/>
          <c:w val="0.9486327919947507"/>
          <c:h val="0.5868993921281050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'Rendamedia_Idademedia'!$B$1</c:f>
              <c:strCache>
                <c:ptCount val="1"/>
                <c:pt idx="0">
                  <c:v>Renda Media</c:v>
                </c:pt>
              </c:strCache>
            </c:strRef>
          </c:tx>
          <c:spPr>
            <a:solidFill>
              <a:schemeClr val="accent4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'Rendamedia_Idademedia'!$A$2:$A$25</c:f>
              <c:strCache>
                <c:ptCount val="24"/>
                <c:pt idx="0">
                  <c:v>GO</c:v>
                </c:pt>
                <c:pt idx="1">
                  <c:v>MA</c:v>
                </c:pt>
                <c:pt idx="2">
                  <c:v>RS</c:v>
                </c:pt>
                <c:pt idx="3">
                  <c:v>BA</c:v>
                </c:pt>
                <c:pt idx="4">
                  <c:v>PE</c:v>
                </c:pt>
                <c:pt idx="5">
                  <c:v>RO</c:v>
                </c:pt>
                <c:pt idx="6">
                  <c:v>MG</c:v>
                </c:pt>
                <c:pt idx="7">
                  <c:v>PR</c:v>
                </c:pt>
                <c:pt idx="8">
                  <c:v>DF</c:v>
                </c:pt>
                <c:pt idx="9">
                  <c:v>RR</c:v>
                </c:pt>
                <c:pt idx="10">
                  <c:v>RN</c:v>
                </c:pt>
                <c:pt idx="11">
                  <c:v>CE</c:v>
                </c:pt>
                <c:pt idx="12">
                  <c:v>MT</c:v>
                </c:pt>
                <c:pt idx="13">
                  <c:v>MS</c:v>
                </c:pt>
                <c:pt idx="14">
                  <c:v>SC</c:v>
                </c:pt>
                <c:pt idx="15">
                  <c:v>PI</c:v>
                </c:pt>
                <c:pt idx="16">
                  <c:v>RJ</c:v>
                </c:pt>
                <c:pt idx="17">
                  <c:v>ES</c:v>
                </c:pt>
                <c:pt idx="18">
                  <c:v>AC</c:v>
                </c:pt>
                <c:pt idx="19">
                  <c:v>PB</c:v>
                </c:pt>
                <c:pt idx="20">
                  <c:v>AM</c:v>
                </c:pt>
                <c:pt idx="21">
                  <c:v>AL</c:v>
                </c:pt>
                <c:pt idx="22">
                  <c:v>AP</c:v>
                </c:pt>
                <c:pt idx="23">
                  <c:v>PA</c:v>
                </c:pt>
              </c:strCache>
            </c:strRef>
          </c:cat>
          <c:val>
            <c:numRef>
              <c:f>'Rendamedia_Idademedia'!$B$2:$B$25</c:f>
              <c:numCache>
                <c:formatCode>General</c:formatCode>
                <c:ptCount val="24"/>
                <c:pt idx="0">
                  <c:v>50294</c:v>
                </c:pt>
                <c:pt idx="1">
                  <c:v>50285</c:v>
                </c:pt>
                <c:pt idx="2">
                  <c:v>50240</c:v>
                </c:pt>
                <c:pt idx="3">
                  <c:v>50239</c:v>
                </c:pt>
                <c:pt idx="4">
                  <c:v>50184</c:v>
                </c:pt>
                <c:pt idx="5">
                  <c:v>50067</c:v>
                </c:pt>
                <c:pt idx="6">
                  <c:v>50064</c:v>
                </c:pt>
                <c:pt idx="7">
                  <c:v>50060</c:v>
                </c:pt>
                <c:pt idx="8">
                  <c:v>50054</c:v>
                </c:pt>
                <c:pt idx="9">
                  <c:v>50046</c:v>
                </c:pt>
                <c:pt idx="10">
                  <c:v>50014</c:v>
                </c:pt>
                <c:pt idx="11">
                  <c:v>49984</c:v>
                </c:pt>
                <c:pt idx="12">
                  <c:v>49982</c:v>
                </c:pt>
                <c:pt idx="13">
                  <c:v>49976</c:v>
                </c:pt>
                <c:pt idx="14">
                  <c:v>49966</c:v>
                </c:pt>
                <c:pt idx="15">
                  <c:v>49944</c:v>
                </c:pt>
                <c:pt idx="16">
                  <c:v>49897</c:v>
                </c:pt>
                <c:pt idx="17">
                  <c:v>49872</c:v>
                </c:pt>
                <c:pt idx="18">
                  <c:v>49786</c:v>
                </c:pt>
                <c:pt idx="19">
                  <c:v>49768</c:v>
                </c:pt>
                <c:pt idx="20">
                  <c:v>49738</c:v>
                </c:pt>
                <c:pt idx="21">
                  <c:v>49722</c:v>
                </c:pt>
                <c:pt idx="22">
                  <c:v>49675</c:v>
                </c:pt>
                <c:pt idx="23">
                  <c:v>49619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C6-4A45-88D2-D5A16DB4A3A5}"/>
            </c:ext>
          </c:extLst>
        </c:ser>
        <c:ser>
          <c:idx val="1"/>
          <c:order val="1"/>
          <c:tx>
            <c:strRef>
              <c:f>'Rendamedia_Idademedia'!$C$1</c:f>
              <c:strCache>
                <c:ptCount val="1"/>
                <c:pt idx="0">
                  <c:v>Idade Media</c:v>
                </c:pt>
              </c:strCache>
            </c:strRef>
          </c:tx>
          <c:spPr>
            <a:solidFill>
              <a:schemeClr val="accent4">
                <a:tint val="77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'Rendamedia_Idademedia'!$A$2:$A$25</c:f>
              <c:strCache>
                <c:ptCount val="24"/>
                <c:pt idx="0">
                  <c:v>GO</c:v>
                </c:pt>
                <c:pt idx="1">
                  <c:v>MA</c:v>
                </c:pt>
                <c:pt idx="2">
                  <c:v>RS</c:v>
                </c:pt>
                <c:pt idx="3">
                  <c:v>BA</c:v>
                </c:pt>
                <c:pt idx="4">
                  <c:v>PE</c:v>
                </c:pt>
                <c:pt idx="5">
                  <c:v>RO</c:v>
                </c:pt>
                <c:pt idx="6">
                  <c:v>MG</c:v>
                </c:pt>
                <c:pt idx="7">
                  <c:v>PR</c:v>
                </c:pt>
                <c:pt idx="8">
                  <c:v>DF</c:v>
                </c:pt>
                <c:pt idx="9">
                  <c:v>RR</c:v>
                </c:pt>
                <c:pt idx="10">
                  <c:v>RN</c:v>
                </c:pt>
                <c:pt idx="11">
                  <c:v>CE</c:v>
                </c:pt>
                <c:pt idx="12">
                  <c:v>MT</c:v>
                </c:pt>
                <c:pt idx="13">
                  <c:v>MS</c:v>
                </c:pt>
                <c:pt idx="14">
                  <c:v>SC</c:v>
                </c:pt>
                <c:pt idx="15">
                  <c:v>PI</c:v>
                </c:pt>
                <c:pt idx="16">
                  <c:v>RJ</c:v>
                </c:pt>
                <c:pt idx="17">
                  <c:v>ES</c:v>
                </c:pt>
                <c:pt idx="18">
                  <c:v>AC</c:v>
                </c:pt>
                <c:pt idx="19">
                  <c:v>PB</c:v>
                </c:pt>
                <c:pt idx="20">
                  <c:v>AM</c:v>
                </c:pt>
                <c:pt idx="21">
                  <c:v>AL</c:v>
                </c:pt>
                <c:pt idx="22">
                  <c:v>AP</c:v>
                </c:pt>
                <c:pt idx="23">
                  <c:v>PA</c:v>
                </c:pt>
              </c:strCache>
            </c:strRef>
          </c:cat>
          <c:val>
            <c:numRef>
              <c:f>'Rendamedia_Idademedia'!$C$2:$C$25</c:f>
              <c:numCache>
                <c:formatCode>General</c:formatCode>
                <c:ptCount val="24"/>
                <c:pt idx="0">
                  <c:v>53</c:v>
                </c:pt>
                <c:pt idx="1">
                  <c:v>52</c:v>
                </c:pt>
                <c:pt idx="2">
                  <c:v>52</c:v>
                </c:pt>
                <c:pt idx="3">
                  <c:v>53</c:v>
                </c:pt>
                <c:pt idx="4">
                  <c:v>52</c:v>
                </c:pt>
                <c:pt idx="5">
                  <c:v>52</c:v>
                </c:pt>
                <c:pt idx="6">
                  <c:v>51</c:v>
                </c:pt>
                <c:pt idx="7">
                  <c:v>52</c:v>
                </c:pt>
                <c:pt idx="8">
                  <c:v>53</c:v>
                </c:pt>
                <c:pt idx="9">
                  <c:v>52</c:v>
                </c:pt>
                <c:pt idx="10">
                  <c:v>52</c:v>
                </c:pt>
                <c:pt idx="11">
                  <c:v>53</c:v>
                </c:pt>
                <c:pt idx="12">
                  <c:v>52</c:v>
                </c:pt>
                <c:pt idx="13">
                  <c:v>52</c:v>
                </c:pt>
                <c:pt idx="14">
                  <c:v>52</c:v>
                </c:pt>
                <c:pt idx="15">
                  <c:v>52</c:v>
                </c:pt>
                <c:pt idx="16">
                  <c:v>52</c:v>
                </c:pt>
                <c:pt idx="17">
                  <c:v>53</c:v>
                </c:pt>
                <c:pt idx="18">
                  <c:v>52</c:v>
                </c:pt>
                <c:pt idx="19">
                  <c:v>52</c:v>
                </c:pt>
                <c:pt idx="20">
                  <c:v>52</c:v>
                </c:pt>
                <c:pt idx="21">
                  <c:v>52</c:v>
                </c:pt>
                <c:pt idx="22">
                  <c:v>52</c:v>
                </c:pt>
                <c:pt idx="23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3C6-4A45-88D2-D5A16DB4A3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661551"/>
        <c:axId val="17688911"/>
      </c:barChart>
      <c:catAx>
        <c:axId val="176615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688911"/>
        <c:crosses val="autoZero"/>
        <c:auto val="1"/>
        <c:lblAlgn val="ctr"/>
        <c:lblOffset val="100"/>
        <c:noMultiLvlLbl val="0"/>
      </c:catAx>
      <c:valAx>
        <c:axId val="176889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6615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84660441272965881"/>
          <c:y val="2.2287406259512411E-2"/>
          <c:w val="0.15262450787401574"/>
          <c:h val="9.376041838924739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 dirty="0" err="1">
                <a:solidFill>
                  <a:schemeClr val="tx1"/>
                </a:solidFill>
              </a:rPr>
              <a:t>Classificação</a:t>
            </a:r>
            <a:r>
              <a:rPr lang="en-US" b="1" baseline="0" dirty="0">
                <a:solidFill>
                  <a:schemeClr val="tx1"/>
                </a:solidFill>
              </a:rPr>
              <a:t> de Renda</a:t>
            </a:r>
            <a:endParaRPr lang="en-US" b="1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'RENDA POR  CATEGORIA'!$B$1</c:f>
              <c:strCache>
                <c:ptCount val="1"/>
                <c:pt idx="0">
                  <c:v>Renda (media)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'RENDA POR  CATEGORIA'!$A$2:$A$5</c:f>
              <c:strCache>
                <c:ptCount val="4"/>
                <c:pt idx="0">
                  <c:v>Alta Renda (&gt;6k)</c:v>
                </c:pt>
                <c:pt idx="1">
                  <c:v>Classe Média Baixa (2-6k)</c:v>
                </c:pt>
                <c:pt idx="2">
                  <c:v>Baixa Renda (&lt;2k)</c:v>
                </c:pt>
                <c:pt idx="3">
                  <c:v>NULL</c:v>
                </c:pt>
              </c:strCache>
            </c:strRef>
          </c:cat>
          <c:val>
            <c:numRef>
              <c:f>'RENDA POR  CATEGORIA'!$B$2:$B$5</c:f>
              <c:numCache>
                <c:formatCode>General</c:formatCode>
                <c:ptCount val="4"/>
                <c:pt idx="0">
                  <c:v>450893</c:v>
                </c:pt>
                <c:pt idx="1">
                  <c:v>19202</c:v>
                </c:pt>
                <c:pt idx="2">
                  <c:v>9426</c:v>
                </c:pt>
                <c:pt idx="3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3F-4980-A664-D5B65E6C509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318873760"/>
        <c:axId val="318874240"/>
      </c:barChart>
      <c:catAx>
        <c:axId val="3188737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18874240"/>
        <c:crosses val="autoZero"/>
        <c:auto val="1"/>
        <c:lblAlgn val="ctr"/>
        <c:lblOffset val="100"/>
        <c:noMultiLvlLbl val="0"/>
      </c:catAx>
      <c:valAx>
        <c:axId val="31887424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188737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4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12C_7FA49CE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328B567-E53C-4A7D-8CF8-634B55FBDBCD}" authorId="{E63A5CDC-C54E-C0C9-5EF1-6CE767BE12CD}" created="2025-11-16T15:20:22.28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141494506" sldId="300"/>
      <ac:spMk id="14" creationId="{B7E9B52B-3FE8-B534-8099-F93EC264745C}"/>
    </ac:deMkLst>
    <p188:txBody>
      <a:bodyPr/>
      <a:lstStyle/>
      <a:p>
        <a:r>
          <a:rPr lang="pt-BR"/>
          <a:t>Considerado base_geral como Ativa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8D0C1F59-543C-4408-97F4-1F494461D321}" type="datetime1">
              <a:rPr lang="pt-BR" smtClean="0"/>
              <a:t>19/11/2025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EAFF3A6F-DEFA-45E0-9496-BEE7C2C6F3D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fld id="{C598E8C6-8B1B-4218-BD0A-BE1467626508}" type="datetime1">
              <a:rPr lang="pt-BR" smtClean="0"/>
              <a:pPr/>
              <a:t>19/11/2025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F97DC217-DF71-1A49-B3EA-559F1F43B0F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7DC217-DF71-1A49-B3EA-559F1F43B0FF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A5C79-8514-FF07-A218-5E2DB5A5A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721107C4-113B-0BA9-B4C6-6877954A87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5C69C752-E289-7264-0B75-1AC48B3EC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C9D23173-65ED-44FA-E1AF-93A329675D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7DC217-DF71-1A49-B3EA-559F1F43B0FF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81030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F6CB4-559A-BE91-5403-8F8D6C7D3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B5E17B57-0E36-71CE-DF32-B952E465DC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7A9DF600-53BA-A903-1C9B-6DDB38A54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C322FED9-C0E0-5891-29C6-BE5509A1C0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7DC217-DF71-1A49-B3EA-559F1F43B0FF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01054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7DC217-DF71-1A49-B3EA-559F1F43B0FF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7DC217-DF71-1A49-B3EA-559F1F43B0FF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47787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59C76-434D-54BF-91F0-5A73F89ED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A7F17B34-D8A3-4540-390A-1952DA86F6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71090209-8317-677E-A352-03A4A4B9F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05611F42-CFAA-8D83-98FF-DDD9E00453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7DC217-DF71-1A49-B3EA-559F1F43B0FF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093211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7DC217-DF71-1A49-B3EA-559F1F43B0FF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168571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50516-075A-D8DE-E119-BBC4B12C2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5AA22DBD-434E-C05E-125D-6D75B2F626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BF519176-12F2-2C9E-CE90-35745C8020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59757CC5-6A52-C703-DE65-798E7E9C99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7DC217-DF71-1A49-B3EA-559F1F43B0FF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375556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1EF64-0511-72A4-3C65-5653F3B72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928621D2-E395-0C60-0AA9-6B523FEEF2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7B0B318E-5A0D-6901-5C6E-3FF362584A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286AE769-BB4C-B7A2-8064-EF6850F4D5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7DC217-DF71-1A49-B3EA-559F1F43B0FF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32934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7DC217-DF71-1A49-B3EA-559F1F43B0FF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1" name="Forma Livre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9" name="Forma Livre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orma Livre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  <p:sp>
            <p:nvSpPr>
              <p:cNvPr id="16" name="Forma Livre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</p:grpSp>
        <p:sp>
          <p:nvSpPr>
            <p:cNvPr id="22" name="Forma Livre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28" name="Forma Livre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rtlCol="0" anchor="b">
            <a:noAutofit/>
          </a:bodyPr>
          <a:lstStyle>
            <a:lvl1pPr algn="l">
              <a:defRPr lang="pt-BR" sz="6000" b="1"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a Liv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5" name="Forma Liv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>
                <a:latin typeface="+mn-lt"/>
              </a:endParaRPr>
            </a:p>
          </p:txBody>
        </p:sp>
        <p:sp>
          <p:nvSpPr>
            <p:cNvPr id="6" name="Forma Livre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a Liv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>
                  <a:latin typeface="+mn-lt"/>
                </a:endParaRPr>
              </a:p>
            </p:txBody>
          </p:sp>
          <p:sp>
            <p:nvSpPr>
              <p:cNvPr id="8" name="Forma Liv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>
                  <a:latin typeface="+mn-lt"/>
                </a:endParaRPr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rtlCol="0" anchor="b">
            <a:noAutofit/>
          </a:bodyPr>
          <a:lstStyle>
            <a:lvl1pPr>
              <a:defRPr lang="pt-BR" sz="4200" b="1"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 rtlCol="0">
            <a:normAutofit/>
          </a:bodyPr>
          <a:lstStyle>
            <a:lvl1pPr marL="0" indent="0">
              <a:buNone/>
              <a:defRPr lang="pt-BR">
                <a:latin typeface="+mn-lt"/>
              </a:defRPr>
            </a:lvl1pPr>
            <a:lvl2pPr marL="457200" indent="0">
              <a:buNone/>
              <a:defRPr lang="pt-BR">
                <a:latin typeface="+mn-lt"/>
              </a:defRPr>
            </a:lvl2pPr>
            <a:lvl3pPr marL="914400" indent="0">
              <a:buNone/>
              <a:defRPr lang="pt-BR">
                <a:latin typeface="+mn-lt"/>
              </a:defRPr>
            </a:lvl3pPr>
            <a:lvl4pPr marL="1371600" indent="0">
              <a:buNone/>
              <a:defRPr lang="pt-BR">
                <a:latin typeface="+mn-lt"/>
              </a:defRPr>
            </a:lvl4pPr>
            <a:lvl5pPr marL="1828800" indent="0">
              <a:buNone/>
              <a:defRPr lang="pt-BR"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Dat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11" name="Espaço Reservado para Rodapé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12" name="Espaço Reservado para o Número do Slid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pt-BR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 conteúdo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2" name="Forma Livre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4" name="Forma Livre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5" name="Forma Livre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13" name="Título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rtlCol="0" anchor="b">
            <a:noAutofit/>
          </a:bodyPr>
          <a:lstStyle>
            <a:lvl1pPr>
              <a:defRPr lang="pt-BR" sz="4200" b="1"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 rtlCol="0"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 lang="pt-BR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 lang="pt-BR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 lang="pt-BR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 da 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orma Livre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orma Livre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  <p:sp>
            <p:nvSpPr>
              <p:cNvPr id="16" name="Forma Livre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</p:grpSp>
        <p:sp>
          <p:nvSpPr>
            <p:cNvPr id="17" name="Forma Livre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8" name="Forma Livre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rtlCol="0" anchor="b">
            <a:noAutofit/>
          </a:bodyPr>
          <a:lstStyle>
            <a:lvl1pPr algn="l">
              <a:defRPr lang="pt-BR" sz="60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rtlCol="0" anchor="ctr" anchorCtr="0">
            <a:noAutofit/>
          </a:bodyPr>
          <a:lstStyle>
            <a:lvl1pPr marL="0" indent="0" algn="l">
              <a:buNone/>
              <a:defRPr lang="pt-BR"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de 2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o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a Liv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5" name="Forma Liv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6" name="Forma Livre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a Liv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>
                  <a:latin typeface="+mn-lt"/>
                </a:endParaRPr>
              </a:p>
            </p:txBody>
          </p:sp>
          <p:sp>
            <p:nvSpPr>
              <p:cNvPr id="8" name="Forma Liv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>
                  <a:latin typeface="+mn-lt"/>
                </a:endParaRPr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Autofit/>
          </a:bodyPr>
          <a:lstStyle>
            <a:lvl1pPr>
              <a:defRPr lang="pt-BR" sz="4200" b="1"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pt-BR"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pt-BR"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Dat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11" name="Espaço Reservado para Rodapé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12" name="Espaço Reservado para o Número do Slid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pt-BR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2 conteúd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orma Liv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5" name="Forma Liv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rtlCol="0" anchor="b">
            <a:noAutofit/>
          </a:bodyPr>
          <a:lstStyle>
            <a:lvl1pPr>
              <a:defRPr lang="pt-BR" sz="42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 rtlCol="0"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lang="pt-BR"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lang="pt-BR"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lang="pt-BR"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lang="pt-BR"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lang="pt-BR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pt-BR"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Dat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11" name="Espaço Reservado para Rodapé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pt-BR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12" name="Espaço Reservado para o Número do Slid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pt-BR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áfico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orma Livre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4" name="Forma Livre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rtlCol="0" anchor="b">
            <a:noAutofit/>
          </a:bodyPr>
          <a:lstStyle>
            <a:lvl1pPr>
              <a:defRPr lang="pt-BR" sz="4200" b="1"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 rtlCol="0">
            <a:noAutofit/>
          </a:bodyPr>
          <a:lstStyle>
            <a:lvl1pPr marL="0" indent="0">
              <a:buNone/>
              <a:defRPr lang="pt-BR">
                <a:latin typeface="+mn-lt"/>
              </a:defRPr>
            </a:lvl1pPr>
            <a:lvl2pPr marL="457200" indent="0">
              <a:buNone/>
              <a:defRPr lang="pt-BR">
                <a:latin typeface="+mn-lt"/>
              </a:defRPr>
            </a:lvl2pPr>
            <a:lvl3pPr marL="914400" indent="0">
              <a:buNone/>
              <a:defRPr lang="pt-BR">
                <a:latin typeface="+mn-lt"/>
              </a:defRPr>
            </a:lvl3pPr>
            <a:lvl4pPr marL="1371600" indent="0">
              <a:buNone/>
              <a:defRPr lang="pt-BR">
                <a:latin typeface="+mn-lt"/>
              </a:defRPr>
            </a:lvl4pPr>
            <a:lvl5pPr marL="1828800" indent="0">
              <a:buNone/>
              <a:defRPr lang="pt-BR"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Dat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11" name="Espaço Reservado para Rodapé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12" name="Espaço Reservado para o Número do Slid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orma Livre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  <p:sp>
            <p:nvSpPr>
              <p:cNvPr id="16" name="Forma Livre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</p:grpSp>
        <p:sp>
          <p:nvSpPr>
            <p:cNvPr id="22" name="Forma Livre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7" name="Forma Livre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rtlCol="0" anchor="b">
            <a:noAutofit/>
          </a:bodyPr>
          <a:lstStyle>
            <a:lvl1pPr algn="l">
              <a:defRPr lang="pt-BR" sz="6000" b="1"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rtlCol="0" anchor="t" anchorCtr="0">
            <a:normAutofit/>
          </a:bodyPr>
          <a:lstStyle>
            <a:lvl1pPr marL="0" indent="0" algn="l">
              <a:buNone/>
              <a:defRPr lang="pt-BR" sz="2800">
                <a:latin typeface="+mn-lt"/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lvl="0" rtl="0"/>
            <a:r>
              <a:rPr lang="pt-BR"/>
              <a:t>Clique para adicionar o texto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Imagem à Dire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a Liv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5" name="Forma Liv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>
                <a:latin typeface="+mn-lt"/>
              </a:endParaRPr>
            </a:p>
          </p:txBody>
        </p:sp>
        <p:sp>
          <p:nvSpPr>
            <p:cNvPr id="6" name="Forma Livre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a Liv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>
                  <a:latin typeface="+mn-lt"/>
                </a:endParaRPr>
              </a:p>
            </p:txBody>
          </p:sp>
          <p:sp>
            <p:nvSpPr>
              <p:cNvPr id="8" name="Forma Liv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>
                  <a:latin typeface="+mn-lt"/>
                </a:endParaRPr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rtlCol="0" anchor="ctr" anchorCtr="0">
            <a:noAutofit/>
          </a:bodyPr>
          <a:lstStyle>
            <a:lvl1pPr>
              <a:defRPr lang="pt-BR" sz="6000" b="1"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5" name="Espaço Reservado para Imagem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 rtlCol="0"/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0" name="Espaço Reservado para Dat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11" name="Espaço Reservado para Rodapé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12" name="Espaço Reservado para o Número do Slid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pt-BR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74503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rt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orma Livre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4" name="Forma Livre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9692640" cy="1371600"/>
          </a:xfrm>
        </p:spPr>
        <p:txBody>
          <a:bodyPr rtlCol="0" anchor="b">
            <a:noAutofit/>
          </a:bodyPr>
          <a:lstStyle>
            <a:lvl1pPr>
              <a:defRPr lang="pt-BR" sz="4200" b="1"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C45E425B-455F-127B-1647-045FD094F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167493" y="2087561"/>
            <a:ext cx="2693306" cy="3890543"/>
          </a:xfrm>
        </p:spPr>
        <p:txBody>
          <a:bodyPr rtlCol="0">
            <a:noAutofit/>
          </a:bodyPr>
          <a:lstStyle>
            <a:lvl1pPr marL="0" indent="0">
              <a:buNone/>
              <a:defRPr lang="pt-BR" sz="2000">
                <a:latin typeface="+mn-lt"/>
              </a:defRPr>
            </a:lvl1pPr>
            <a:lvl2pPr marL="457200" indent="0">
              <a:buNone/>
              <a:defRPr lang="pt-BR" sz="2000">
                <a:latin typeface="+mn-lt"/>
              </a:defRPr>
            </a:lvl2pPr>
            <a:lvl3pPr marL="914400" indent="0">
              <a:buNone/>
              <a:defRPr lang="pt-BR" sz="2000">
                <a:latin typeface="+mn-lt"/>
              </a:defRPr>
            </a:lvl3pPr>
            <a:lvl4pPr marL="1371600" indent="0">
              <a:buNone/>
              <a:defRPr lang="pt-BR" sz="2000">
                <a:latin typeface="+mn-lt"/>
              </a:defRPr>
            </a:lvl4pPr>
            <a:lvl5pPr marL="1828800" indent="0">
              <a:buNone/>
              <a:defRPr lang="pt-BR" sz="2000"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16400" y="2087563"/>
            <a:ext cx="6730274" cy="3890543"/>
          </a:xfrm>
        </p:spPr>
        <p:txBody>
          <a:bodyPr rtlCol="0">
            <a:noAutofit/>
          </a:bodyPr>
          <a:lstStyle>
            <a:lvl1pPr marL="0" indent="0">
              <a:buNone/>
              <a:defRPr lang="pt-BR">
                <a:latin typeface="+mn-lt"/>
              </a:defRPr>
            </a:lvl1pPr>
            <a:lvl2pPr marL="457200" indent="0">
              <a:buNone/>
              <a:defRPr lang="pt-BR">
                <a:latin typeface="+mn-lt"/>
              </a:defRPr>
            </a:lvl2pPr>
            <a:lvl3pPr marL="914400" indent="0">
              <a:buNone/>
              <a:defRPr lang="pt-BR">
                <a:latin typeface="+mn-lt"/>
              </a:defRPr>
            </a:lvl3pPr>
            <a:lvl4pPr marL="1371600" indent="0">
              <a:buNone/>
              <a:defRPr lang="pt-BR">
                <a:latin typeface="+mn-lt"/>
              </a:defRPr>
            </a:lvl4pPr>
            <a:lvl5pPr marL="1828800" indent="0">
              <a:buNone/>
              <a:defRPr lang="pt-BR">
                <a:latin typeface="+mn-lt"/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Dat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11" name="Espaço Reservado para Rodapé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12" name="Espaço Reservado para o Número do Slid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19178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, Conteúdo e Imagem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208822" cy="6858002"/>
            <a:chOff x="0" y="0"/>
            <a:chExt cx="12208822" cy="6858002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2" name="Forma Livre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4" name="Forma Livre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13" name="Título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10643508" cy="1371600"/>
          </a:xfrm>
        </p:spPr>
        <p:txBody>
          <a:bodyPr rtlCol="0" anchor="b">
            <a:noAutofit/>
          </a:bodyPr>
          <a:lstStyle>
            <a:lvl1pPr>
              <a:defRPr lang="pt-BR" sz="4200" b="1"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B07A1CF7-9B3B-E43E-830E-DAB65B60824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166088" y="2652713"/>
            <a:ext cx="5394959" cy="3436936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pt-BR"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8" name="Espaço Reservado para Imagem 14">
            <a:extLst>
              <a:ext uri="{FF2B5EF4-FFF2-40B4-BE49-F238E27FC236}">
                <a16:creationId xmlns:a16="http://schemas.microsoft.com/office/drawing/2014/main" id="{D976D8D6-3BDC-1908-3425-FEE3EEF51A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7920" y="1447800"/>
            <a:ext cx="4214010" cy="4214010"/>
          </a:xfrm>
          <a:prstGeom prst="ellipse">
            <a:avLst/>
          </a:prstGeom>
          <a:solidFill>
            <a:schemeClr val="accent2"/>
          </a:solidFill>
        </p:spPr>
        <p:txBody>
          <a:bodyPr rtlCol="0"/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 lang="pt-BR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 lang="pt-BR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 lang="pt-BR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56057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pt-BR"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pt-BR"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pt-BR"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59" r:id="rId4"/>
    <p:sldLayoutId id="2147483668" r:id="rId5"/>
    <p:sldLayoutId id="2147483669" r:id="rId6"/>
    <p:sldLayoutId id="2147483661" r:id="rId7"/>
    <p:sldLayoutId id="2147483666" r:id="rId8"/>
    <p:sldLayoutId id="2147483675" r:id="rId9"/>
    <p:sldLayoutId id="2147483676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pt-BR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pt-BR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C_7FA49CEA.xm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6938" y="2984849"/>
            <a:ext cx="9088334" cy="1018507"/>
          </a:xfrm>
        </p:spPr>
        <p:txBody>
          <a:bodyPr rtlCol="0"/>
          <a:lstStyle>
            <a:defPPr>
              <a:defRPr lang="pt-BR"/>
            </a:defPPr>
          </a:lstStyle>
          <a:p>
            <a:pPr>
              <a:lnSpc>
                <a:spcPct val="100000"/>
              </a:lnSpc>
            </a:pPr>
            <a:r>
              <a:rPr lang="pt-BR" sz="3600" dirty="0"/>
              <a:t>Atendimento a Clientes Banking e Canais Críticos</a:t>
            </a:r>
          </a:p>
        </p:txBody>
      </p:sp>
      <p:pic>
        <p:nvPicPr>
          <p:cNvPr id="4" name="Imagem 3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A91055D1-5392-AE1B-FFA6-EF9B8E900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" y="10391"/>
            <a:ext cx="2140768" cy="1329529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514E08EF-6357-2237-084F-C36F911C2CFD}"/>
              </a:ext>
            </a:extLst>
          </p:cNvPr>
          <p:cNvSpPr txBox="1">
            <a:spLocks/>
          </p:cNvSpPr>
          <p:nvPr/>
        </p:nvSpPr>
        <p:spPr>
          <a:xfrm>
            <a:off x="886938" y="1842655"/>
            <a:ext cx="9088334" cy="101850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pt-BR"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3200" dirty="0"/>
              <a:t>CASE: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C37A6121-7590-7468-9EBA-3B883DD7B968}"/>
              </a:ext>
            </a:extLst>
          </p:cNvPr>
          <p:cNvSpPr txBox="1">
            <a:spLocks/>
          </p:cNvSpPr>
          <p:nvPr/>
        </p:nvSpPr>
        <p:spPr>
          <a:xfrm>
            <a:off x="1333748" y="5015345"/>
            <a:ext cx="9088334" cy="101850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pt-BR"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3200" dirty="0">
                <a:solidFill>
                  <a:schemeClr val="bg1">
                    <a:lumMod val="85000"/>
                  </a:schemeClr>
                </a:solidFill>
              </a:rPr>
              <a:t>Por:  </a:t>
            </a:r>
            <a:r>
              <a:rPr lang="pt-BR" sz="3200" dirty="0"/>
              <a:t>Eduardo Reis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A98F4E6F-3934-2DE4-F765-36B86ED84F52}"/>
              </a:ext>
            </a:extLst>
          </p:cNvPr>
          <p:cNvSpPr txBox="1">
            <a:spLocks/>
          </p:cNvSpPr>
          <p:nvPr/>
        </p:nvSpPr>
        <p:spPr>
          <a:xfrm>
            <a:off x="9975272" y="6400800"/>
            <a:ext cx="2216728" cy="4953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pt-BR"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pt-BR" sz="1800" dirty="0">
                <a:solidFill>
                  <a:schemeClr val="bg1"/>
                </a:solidFill>
              </a:rPr>
              <a:t>v.1 Novembro 2025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6631E-0C5A-FB5F-0BB5-7A64D50F2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EF4285E-7BB9-7A88-0392-515B39A42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2997" y="174954"/>
            <a:ext cx="7799527" cy="968795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1 - Análise Geral (Insights)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13A2698E-9F54-4C22-436F-E41D559449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6841059"/>
              </p:ext>
            </p:extLst>
          </p:nvPr>
        </p:nvGraphicFramePr>
        <p:xfrm>
          <a:off x="-1" y="4493343"/>
          <a:ext cx="7187381" cy="2319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F23ACFD-C0AA-C6D6-B691-94FFD6BD865B}"/>
              </a:ext>
            </a:extLst>
          </p:cNvPr>
          <p:cNvSpPr/>
          <p:nvPr/>
        </p:nvSpPr>
        <p:spPr>
          <a:xfrm>
            <a:off x="508730" y="1750142"/>
            <a:ext cx="1317523" cy="521110"/>
          </a:xfrm>
          <a:prstGeom prst="roundRect">
            <a:avLst>
              <a:gd name="adj" fmla="val 4874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solidFill>
                  <a:schemeClr val="tx2"/>
                </a:solidFill>
              </a:rPr>
              <a:t>+45K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00B3C8CA-A20D-3F03-D3CB-BC457314033C}"/>
              </a:ext>
            </a:extLst>
          </p:cNvPr>
          <p:cNvSpPr/>
          <p:nvPr/>
        </p:nvSpPr>
        <p:spPr>
          <a:xfrm>
            <a:off x="2092997" y="1750142"/>
            <a:ext cx="1317523" cy="521110"/>
          </a:xfrm>
          <a:prstGeom prst="roundRect">
            <a:avLst>
              <a:gd name="adj" fmla="val 4874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solidFill>
                  <a:schemeClr val="tx2"/>
                </a:solidFill>
              </a:rPr>
              <a:t>+19K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ED293F1C-12BB-CAAE-A278-3AFA7BF28FFC}"/>
              </a:ext>
            </a:extLst>
          </p:cNvPr>
          <p:cNvSpPr/>
          <p:nvPr/>
        </p:nvSpPr>
        <p:spPr>
          <a:xfrm>
            <a:off x="3677264" y="1750142"/>
            <a:ext cx="1317523" cy="521110"/>
          </a:xfrm>
          <a:prstGeom prst="roundRect">
            <a:avLst>
              <a:gd name="adj" fmla="val 4874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solidFill>
                  <a:srgbClr val="FF0000"/>
                </a:solidFill>
              </a:rPr>
              <a:t>+25K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9068128-A6C5-ED42-A7F2-20A98A5FF038}"/>
              </a:ext>
            </a:extLst>
          </p:cNvPr>
          <p:cNvSpPr txBox="1"/>
          <p:nvPr/>
        </p:nvSpPr>
        <p:spPr>
          <a:xfrm>
            <a:off x="508729" y="1388495"/>
            <a:ext cx="13175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Tenorite (Títulos)"/>
              </a:rPr>
              <a:t>Alta Renda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8CEE0D2-1D69-0D10-C863-27A349BEE43C}"/>
              </a:ext>
            </a:extLst>
          </p:cNvPr>
          <p:cNvSpPr txBox="1"/>
          <p:nvPr/>
        </p:nvSpPr>
        <p:spPr>
          <a:xfrm>
            <a:off x="2038282" y="1388495"/>
            <a:ext cx="15056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Tenorite (Títulos)"/>
              </a:rPr>
              <a:t>Renda Média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620EE3D-F633-7838-C430-4007D2B571DC}"/>
              </a:ext>
            </a:extLst>
          </p:cNvPr>
          <p:cNvSpPr txBox="1"/>
          <p:nvPr/>
        </p:nvSpPr>
        <p:spPr>
          <a:xfrm>
            <a:off x="3567835" y="1388495"/>
            <a:ext cx="15056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Tenorite (Títulos)"/>
              </a:rPr>
              <a:t>Base Divergente</a:t>
            </a:r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5118D051-DD5D-FEAA-E5DF-2D68D6DA62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1242603"/>
              </p:ext>
            </p:extLst>
          </p:nvPr>
        </p:nvGraphicFramePr>
        <p:xfrm>
          <a:off x="0" y="2325123"/>
          <a:ext cx="12192000" cy="22616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Retângulo 14">
            <a:extLst>
              <a:ext uri="{FF2B5EF4-FFF2-40B4-BE49-F238E27FC236}">
                <a16:creationId xmlns:a16="http://schemas.microsoft.com/office/drawing/2014/main" id="{F7B9A21B-16CA-5D9B-8FD0-DCB2F638CFEB}"/>
              </a:ext>
            </a:extLst>
          </p:cNvPr>
          <p:cNvSpPr/>
          <p:nvPr/>
        </p:nvSpPr>
        <p:spPr>
          <a:xfrm>
            <a:off x="2841524" y="2792361"/>
            <a:ext cx="9237404" cy="1455174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42102C96-16A4-1D36-FA9E-E583A063E6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1676042"/>
              </p:ext>
            </p:extLst>
          </p:nvPr>
        </p:nvGraphicFramePr>
        <p:xfrm>
          <a:off x="7359446" y="4364069"/>
          <a:ext cx="4832554" cy="2448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4" name="Imagem 3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4F1CC613-0728-FDC4-4672-4543C68C37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" y="-200321"/>
            <a:ext cx="2140768" cy="1329529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B7E9B52B-3FE8-B534-8099-F93EC264745C}"/>
              </a:ext>
            </a:extLst>
          </p:cNvPr>
          <p:cNvSpPr txBox="1"/>
          <p:nvPr/>
        </p:nvSpPr>
        <p:spPr>
          <a:xfrm>
            <a:off x="4994787" y="1388495"/>
            <a:ext cx="15056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Tenorite (Títulos)"/>
              </a:rPr>
              <a:t>Base Ativa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CDE99B97-306B-7DBC-5A57-F4014A8A32A4}"/>
              </a:ext>
            </a:extLst>
          </p:cNvPr>
          <p:cNvSpPr/>
          <p:nvPr/>
        </p:nvSpPr>
        <p:spPr>
          <a:xfrm>
            <a:off x="5088830" y="1725354"/>
            <a:ext cx="1317523" cy="521110"/>
          </a:xfrm>
          <a:prstGeom prst="roundRect">
            <a:avLst>
              <a:gd name="adj" fmla="val 4874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solidFill>
                  <a:schemeClr val="tx2"/>
                </a:solidFill>
              </a:rPr>
              <a:t>7%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B81F004-FF64-0979-925B-F15F5192D6F4}"/>
              </a:ext>
            </a:extLst>
          </p:cNvPr>
          <p:cNvSpPr txBox="1"/>
          <p:nvPr/>
        </p:nvSpPr>
        <p:spPr>
          <a:xfrm>
            <a:off x="6421739" y="1269492"/>
            <a:ext cx="1505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Tenorite (Títulos)"/>
              </a:rPr>
              <a:t>Potencial Giro de Produtos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A3623FC5-0654-12DD-1D10-8D8396CCC98F}"/>
              </a:ext>
            </a:extLst>
          </p:cNvPr>
          <p:cNvSpPr/>
          <p:nvPr/>
        </p:nvSpPr>
        <p:spPr>
          <a:xfrm>
            <a:off x="6500396" y="1731907"/>
            <a:ext cx="1317523" cy="521110"/>
          </a:xfrm>
          <a:prstGeom prst="roundRect">
            <a:avLst>
              <a:gd name="adj" fmla="val 4874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solidFill>
                  <a:schemeClr val="tx2"/>
                </a:solidFill>
              </a:rPr>
              <a:t>+30k</a:t>
            </a:r>
            <a:endParaRPr lang="pt-BR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149450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8CBF6-8180-0D1C-A0B0-7984B3BFC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B577775-A564-10C8-3C39-4210EC890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110" y="668539"/>
            <a:ext cx="9779183" cy="1600835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2 – Oportunidades de Negócio &amp; impacto estimado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965372-AC87-7697-0ACD-EFC7798BC49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77709" y="2338679"/>
            <a:ext cx="10636581" cy="4081786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pPr marL="59436" indent="0" algn="just">
              <a:buNone/>
            </a:pPr>
            <a:r>
              <a:rPr lang="pt-BR" sz="1800" b="1" dirty="0"/>
              <a:t>💡1 — </a:t>
            </a:r>
            <a:r>
              <a:rPr lang="pt-BR" sz="1800" dirty="0"/>
              <a:t>Reativação da bases legada¹</a:t>
            </a:r>
          </a:p>
          <a:p>
            <a:pPr marL="59436" indent="0" algn="just">
              <a:buNone/>
            </a:pPr>
            <a:r>
              <a:rPr lang="pt-BR" sz="1800" b="1" dirty="0"/>
              <a:t>Oportunidade: Aproveitamento de inativos com forte potencial.</a:t>
            </a:r>
          </a:p>
          <a:p>
            <a:pPr marL="59436" indent="0" algn="just">
              <a:buNone/>
            </a:pPr>
            <a:r>
              <a:rPr lang="pt-BR" sz="1800" b="1" dirty="0"/>
              <a:t>Impacto estimado: +30.463 ativações, podendo ter um alcance de &gt;1.5Mi/mês em produtos (conta e cartão) considerando +61k de clientes (total).</a:t>
            </a:r>
          </a:p>
          <a:p>
            <a:pPr marL="59436" indent="0" algn="just">
              <a:buNone/>
            </a:pPr>
            <a:r>
              <a:rPr lang="pt-BR" sz="1800" b="1" dirty="0"/>
              <a:t>💡 2 – Segmentação por renda.</a:t>
            </a:r>
          </a:p>
          <a:p>
            <a:pPr marL="59436" indent="0" algn="just">
              <a:buNone/>
            </a:pPr>
            <a:r>
              <a:rPr lang="pt-BR" sz="1800" b="1" dirty="0"/>
              <a:t>Oportunidade: Identificado que +45k dos clientes estão prontos para produtos premium.</a:t>
            </a:r>
          </a:p>
          <a:p>
            <a:pPr marL="59436" indent="0" algn="just">
              <a:buNone/>
            </a:pPr>
            <a:r>
              <a:rPr lang="pt-BR" sz="1800" b="1" dirty="0"/>
              <a:t>Impacto estimado: +22K de produtos, podendo ter um alcance de até 1Mi/mês em produtos comercializados via canal Banking.</a:t>
            </a:r>
          </a:p>
          <a:p>
            <a:pPr marL="59436" indent="0" algn="just">
              <a:buNone/>
            </a:pPr>
            <a:r>
              <a:rPr lang="pt-BR" sz="1800" b="1" dirty="0"/>
              <a:t>💡 3 — Programa de saneamento cadastral.</a:t>
            </a:r>
            <a:endParaRPr lang="pt-BR" sz="1800" dirty="0"/>
          </a:p>
          <a:p>
            <a:pPr marL="59436" indent="0" algn="just">
              <a:buNone/>
            </a:pPr>
            <a:r>
              <a:rPr lang="pt-BR" sz="1800" b="1" dirty="0"/>
              <a:t>Oportunidade: Corrigir divergências entre bases.</a:t>
            </a:r>
          </a:p>
          <a:p>
            <a:pPr marL="59436" indent="0" algn="just">
              <a:buNone/>
            </a:pPr>
            <a:r>
              <a:rPr lang="pt-BR" sz="1800" b="1" dirty="0"/>
              <a:t>Impacto estimado: -12% de falhas de contato e até  +3% conversão comercial.</a:t>
            </a:r>
            <a:endParaRPr lang="pt-BR" sz="18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8BC3C0F-5E13-07B8-1B40-AD6418A7931B}"/>
              </a:ext>
            </a:extLst>
          </p:cNvPr>
          <p:cNvSpPr txBox="1"/>
          <p:nvPr/>
        </p:nvSpPr>
        <p:spPr>
          <a:xfrm>
            <a:off x="0" y="6489770"/>
            <a:ext cx="594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¹(base_nome e base_uf correlacionadas com base_geral)</a:t>
            </a:r>
          </a:p>
        </p:txBody>
      </p:sp>
    </p:spTree>
    <p:extLst>
      <p:ext uri="{BB962C8B-B14F-4D97-AF65-F5344CB8AC3E}">
        <p14:creationId xmlns:p14="http://schemas.microsoft.com/office/powerpoint/2010/main" val="620374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71600"/>
            <a:ext cx="6015946" cy="4114800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sz="4200" dirty="0"/>
              <a:t>3 – Uso de IA para responder em mídias sociais</a:t>
            </a:r>
          </a:p>
        </p:txBody>
      </p:sp>
      <p:pic>
        <p:nvPicPr>
          <p:cNvPr id="10" name="Espaço Reservado para Imagem 9" descr="Uma pessoa segurando livros em uma sala de aula">
            <a:extLst>
              <a:ext uri="{FF2B5EF4-FFF2-40B4-BE49-F238E27FC236}">
                <a16:creationId xmlns:a16="http://schemas.microsoft.com/office/drawing/2014/main" id="{FCA2FB5B-570E-D181-A4B1-1DCB61C0894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16819" r="16819"/>
          <a:stretch/>
        </p:blipFill>
        <p:spPr>
          <a:xfrm>
            <a:off x="7183438" y="1168400"/>
            <a:ext cx="4500562" cy="4521200"/>
          </a:xfrm>
        </p:spPr>
      </p:pic>
      <p:pic>
        <p:nvPicPr>
          <p:cNvPr id="3" name="Imagem 2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8BC7F912-AD6F-7A1C-4852-83FB59DA6F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-200321"/>
            <a:ext cx="2140768" cy="132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E02FA0-5805-E9D5-E5A1-5B4B485CB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 rtlCol="0" anchor="b">
            <a:normAutofit/>
          </a:bodyPr>
          <a:lstStyle>
            <a:defPPr>
              <a:defRPr lang="pt-BR"/>
            </a:defPPr>
          </a:lstStyle>
          <a:p>
            <a:r>
              <a:rPr lang="pt-BR" dirty="0"/>
              <a:t>[A] MVP - API - Instagram </a:t>
            </a:r>
            <a:r>
              <a:rPr lang="pt-BR" dirty="0" err="1"/>
              <a:t>Graph</a:t>
            </a:r>
            <a:r>
              <a:rPr lang="pt-BR" dirty="0"/>
              <a:t> API</a:t>
            </a:r>
          </a:p>
        </p:txBody>
      </p:sp>
      <p:pic>
        <p:nvPicPr>
          <p:cNvPr id="10" name="Imagem 9" descr="Diagrama&#10;&#10;O conteúdo gerado por IA pode estar incorreto.">
            <a:extLst>
              <a:ext uri="{FF2B5EF4-FFF2-40B4-BE49-F238E27FC236}">
                <a16:creationId xmlns:a16="http://schemas.microsoft.com/office/drawing/2014/main" id="{080E9AAF-216C-4E7B-4F35-896893134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29" y="2087905"/>
            <a:ext cx="10632372" cy="3880816"/>
          </a:xfrm>
          <a:prstGeom prst="rect">
            <a:avLst/>
          </a:prstGeom>
          <a:noFill/>
        </p:spPr>
      </p:pic>
      <p:pic>
        <p:nvPicPr>
          <p:cNvPr id="11" name="Imagem 10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51D49531-2674-E2B6-7E4B-9A748C2FC6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-200321"/>
            <a:ext cx="2140768" cy="132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915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27B7C-28A2-44F5-7033-F54EB9C5E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CE4E34-A6BF-1213-5E22-260332D20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 rtlCol="0" anchor="b">
            <a:normAutofit/>
          </a:bodyPr>
          <a:lstStyle>
            <a:defPPr>
              <a:defRPr lang="pt-BR"/>
            </a:defPPr>
          </a:lstStyle>
          <a:p>
            <a:r>
              <a:rPr lang="pt-BR" dirty="0"/>
              <a:t>[B] MVP – SIMULAÇÃO DE INTERAÇÃO</a:t>
            </a:r>
          </a:p>
        </p:txBody>
      </p:sp>
      <p:pic>
        <p:nvPicPr>
          <p:cNvPr id="11" name="Imagem 10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A2956339-DFA0-0106-33ED-C4637B148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200321"/>
            <a:ext cx="2140768" cy="1329529"/>
          </a:xfrm>
          <a:prstGeom prst="rect">
            <a:avLst/>
          </a:prstGeom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118A79CC-64AE-347A-0245-2982E65AAED2}"/>
              </a:ext>
            </a:extLst>
          </p:cNvPr>
          <p:cNvSpPr txBox="1"/>
          <p:nvPr/>
        </p:nvSpPr>
        <p:spPr>
          <a:xfrm>
            <a:off x="398207" y="1823085"/>
            <a:ext cx="10687324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/>
          </a:p>
          <a:p>
            <a:pPr>
              <a:defRPr sz="2000" b="1">
                <a:solidFill>
                  <a:srgbClr val="0A50A0"/>
                </a:solidFill>
              </a:defRPr>
            </a:pPr>
            <a:r>
              <a:rPr dirty="0"/>
              <a:t>Fluxo: Leitura → IA (classificação + resposta) → </a:t>
            </a:r>
            <a:r>
              <a:rPr dirty="0">
                <a:solidFill>
                  <a:srgbClr val="FF0000"/>
                </a:solidFill>
              </a:rPr>
              <a:t>Aprovação</a:t>
            </a:r>
            <a:r>
              <a:rPr dirty="0"/>
              <a:t> → Publicação → Dashboards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1C5D5680-8153-3438-D55A-B4FBA48A5FFF}"/>
              </a:ext>
            </a:extLst>
          </p:cNvPr>
          <p:cNvSpPr txBox="1"/>
          <p:nvPr/>
        </p:nvSpPr>
        <p:spPr>
          <a:xfrm>
            <a:off x="398207" y="2343247"/>
            <a:ext cx="11690554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/>
          </a:p>
          <a:p>
            <a:pPr>
              <a:defRPr sz="2000" b="1">
                <a:solidFill>
                  <a:srgbClr val="0A50A0"/>
                </a:solidFill>
              </a:defRPr>
            </a:pPr>
            <a:r>
              <a:rPr dirty="0" err="1"/>
              <a:t>Endpoints</a:t>
            </a:r>
            <a:r>
              <a:rPr dirty="0"/>
              <a:t> (MVP </a:t>
            </a:r>
            <a:r>
              <a:rPr dirty="0" err="1"/>
              <a:t>Postman</a:t>
            </a:r>
            <a:r>
              <a:rPr dirty="0"/>
              <a:t>): GET /</a:t>
            </a:r>
            <a:r>
              <a:rPr dirty="0" err="1"/>
              <a:t>instagram</a:t>
            </a:r>
            <a:r>
              <a:rPr dirty="0"/>
              <a:t>/</a:t>
            </a:r>
            <a:r>
              <a:rPr dirty="0" err="1"/>
              <a:t>comments</a:t>
            </a:r>
            <a:r>
              <a:rPr dirty="0"/>
              <a:t> | POST /ia/classificar | POST /</a:t>
            </a:r>
            <a:r>
              <a:rPr dirty="0" err="1"/>
              <a:t>aprovacao</a:t>
            </a:r>
            <a:r>
              <a:rPr dirty="0"/>
              <a:t> | </a:t>
            </a:r>
          </a:p>
          <a:p>
            <a:pPr>
              <a:defRPr sz="2000" b="1">
                <a:solidFill>
                  <a:srgbClr val="0A50A0"/>
                </a:solidFill>
              </a:defRPr>
            </a:pPr>
            <a:r>
              <a:rPr dirty="0"/>
              <a:t>POST /</a:t>
            </a:r>
            <a:r>
              <a:rPr dirty="0" err="1"/>
              <a:t>instagram</a:t>
            </a:r>
            <a:r>
              <a:rPr dirty="0"/>
              <a:t>/</a:t>
            </a:r>
            <a:r>
              <a:rPr dirty="0" err="1"/>
              <a:t>reply</a:t>
            </a:r>
            <a:endParaRPr dirty="0"/>
          </a:p>
        </p:txBody>
      </p:sp>
      <p:sp>
        <p:nvSpPr>
          <p:cNvPr id="7" name="Balão de Pensamento: Nuvem 6">
            <a:extLst>
              <a:ext uri="{FF2B5EF4-FFF2-40B4-BE49-F238E27FC236}">
                <a16:creationId xmlns:a16="http://schemas.microsoft.com/office/drawing/2014/main" id="{9192816D-9DED-29FA-DE74-F0D8C0383EE4}"/>
              </a:ext>
            </a:extLst>
          </p:cNvPr>
          <p:cNvSpPr/>
          <p:nvPr/>
        </p:nvSpPr>
        <p:spPr>
          <a:xfrm>
            <a:off x="-1" y="3529869"/>
            <a:ext cx="6513870" cy="2851725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1200" b="1" dirty="0"/>
              <a:t>Comentário:</a:t>
            </a:r>
            <a:r>
              <a:rPr lang="pt-BR" sz="1200" dirty="0"/>
              <a:t> “Gente, o app tá fora do ar de novo??? Preciso fazer uma transferência URGENTE e não consigo entrar de jeito nenhum! Isso é um absurdo, já é a terceira vez essa semana”</a:t>
            </a:r>
          </a:p>
          <a:p>
            <a:pPr algn="just"/>
            <a:r>
              <a:rPr lang="en-US" sz="1200" b="1" dirty="0" err="1"/>
              <a:t>Categoria</a:t>
            </a:r>
            <a:r>
              <a:rPr lang="en-US" sz="1200" b="1" dirty="0"/>
              <a:t>:</a:t>
            </a:r>
            <a:r>
              <a:rPr lang="en-US" sz="1200" dirty="0"/>
              <a:t> </a:t>
            </a:r>
            <a:r>
              <a:rPr lang="en-US" sz="1200" dirty="0" err="1"/>
              <a:t>app_outage</a:t>
            </a:r>
            <a:endParaRPr lang="pt-BR" sz="1200" dirty="0"/>
          </a:p>
          <a:p>
            <a:pPr algn="just"/>
            <a:r>
              <a:rPr lang="en-US" sz="1200" b="1" dirty="0"/>
              <a:t>GET:</a:t>
            </a:r>
            <a:r>
              <a:rPr lang="en-US" sz="1200" dirty="0"/>
              <a:t> </a:t>
            </a:r>
            <a:r>
              <a:rPr lang="en-US" sz="1200" dirty="0" err="1"/>
              <a:t>urgent_transfer_report</a:t>
            </a:r>
            <a:endParaRPr lang="pt-BR" sz="1200" dirty="0"/>
          </a:p>
          <a:p>
            <a:pPr algn="just"/>
            <a:r>
              <a:rPr lang="pt-BR" sz="1200" b="1" dirty="0"/>
              <a:t>Resposta sugerida (POST):</a:t>
            </a:r>
            <a:r>
              <a:rPr lang="pt-BR" sz="1200" dirty="0"/>
              <a:t> “Sentimos muito pelo transtorno. Estamos verificando a instabilidade. Pode, por favor, nos mandar por DM o CPF (últimos 4 dígitos) e o horário da tentativa para agilizarmos?”</a:t>
            </a:r>
          </a:p>
          <a:p>
            <a:pPr algn="just"/>
            <a:r>
              <a:rPr lang="pt-BR" sz="1200" b="1" dirty="0"/>
              <a:t>Confiança:</a:t>
            </a:r>
            <a:r>
              <a:rPr lang="pt-BR" sz="1200" dirty="0"/>
              <a:t> 0.93 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2D7B568-EDC2-8402-C849-D26967B1D6F7}"/>
              </a:ext>
            </a:extLst>
          </p:cNvPr>
          <p:cNvSpPr/>
          <p:nvPr/>
        </p:nvSpPr>
        <p:spPr>
          <a:xfrm>
            <a:off x="6990734" y="3328133"/>
            <a:ext cx="4365523" cy="13716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0A50A0"/>
                </a:solidFill>
              </a:defRPr>
            </a:pPr>
            <a:r>
              <a:rPr lang="pt-BR" dirty="0"/>
              <a:t>Resultados da Simulação</a:t>
            </a:r>
          </a:p>
          <a:p>
            <a:pPr lvl="1">
              <a:defRPr sz="1600"/>
            </a:pPr>
            <a:r>
              <a:rPr lang="pt-BR" dirty="0"/>
              <a:t>20* comentários | Acurácia: 80% | Qualidade média: 4.1/5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8D89C38-4B58-CF9C-4FF9-FB3AB22088F2}"/>
              </a:ext>
            </a:extLst>
          </p:cNvPr>
          <p:cNvSpPr/>
          <p:nvPr/>
        </p:nvSpPr>
        <p:spPr>
          <a:xfrm>
            <a:off x="6990734" y="4788224"/>
            <a:ext cx="4365523" cy="13716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0A50A0"/>
                </a:solidFill>
              </a:defRPr>
            </a:pPr>
            <a:r>
              <a:rPr lang="pt-BR" dirty="0"/>
              <a:t>Melhorias</a:t>
            </a:r>
          </a:p>
          <a:p>
            <a:pPr lvl="1">
              <a:defRPr sz="1600"/>
            </a:pPr>
            <a:r>
              <a:rPr lang="pt-BR" dirty="0" err="1"/>
              <a:t>Templates</a:t>
            </a:r>
            <a:r>
              <a:rPr lang="pt-BR" dirty="0"/>
              <a:t> jurídicos | Simulação real| Conexão com Banco | v.2 Autonomia Motor IA</a:t>
            </a:r>
          </a:p>
        </p:txBody>
      </p:sp>
    </p:spTree>
    <p:extLst>
      <p:ext uri="{BB962C8B-B14F-4D97-AF65-F5344CB8AC3E}">
        <p14:creationId xmlns:p14="http://schemas.microsoft.com/office/powerpoint/2010/main" val="2707849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7EF58C-138C-55F4-DA77-4C3F06C81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7200"/>
            <a:ext cx="10643508" cy="1371600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sz="3600" dirty="0"/>
              <a:t>4 - </a:t>
            </a:r>
            <a:r>
              <a:rPr lang="pt-BR" dirty="0"/>
              <a:t>Melhoria</a:t>
            </a:r>
            <a:r>
              <a:rPr lang="pt-BR" sz="3600" dirty="0"/>
              <a:t> de jornada de contestação de compra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5DDE7C-335B-FD23-E1E6-CDCB99B7878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167492" y="2888687"/>
            <a:ext cx="5394325" cy="2469893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sz="3200" dirty="0">
                <a:latin typeface="Tenorite (Corpo)"/>
              </a:rPr>
              <a:t>Jornada AS-IS / </a:t>
            </a:r>
            <a:r>
              <a:rPr lang="pt-BR" sz="3200" dirty="0"/>
              <a:t>TO-BE</a:t>
            </a:r>
          </a:p>
          <a:p>
            <a:r>
              <a:rPr lang="pt-BR" sz="3200" dirty="0">
                <a:latin typeface="Tenorite (Corpo)"/>
              </a:rPr>
              <a:t>(Multicanais de Atendimento)</a:t>
            </a:r>
          </a:p>
        </p:txBody>
      </p:sp>
      <p:pic>
        <p:nvPicPr>
          <p:cNvPr id="25" name="Espaço Reservado para Imagem 24" descr="Duas pessoas olhando para um computador">
            <a:extLst>
              <a:ext uri="{FF2B5EF4-FFF2-40B4-BE49-F238E27FC236}">
                <a16:creationId xmlns:a16="http://schemas.microsoft.com/office/drawing/2014/main" id="{E57751D1-D655-B1C0-2407-A8826F55102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16667" r="16667"/>
          <a:stretch/>
        </p:blipFill>
        <p:spPr>
          <a:xfrm>
            <a:off x="7317920" y="1447800"/>
            <a:ext cx="4214010" cy="4214010"/>
          </a:xfrm>
        </p:spPr>
      </p:pic>
      <p:pic>
        <p:nvPicPr>
          <p:cNvPr id="4" name="Imagem 3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FD78F8C0-3193-9177-73F4-D8DE88944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-200321"/>
            <a:ext cx="2140768" cy="132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49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BB534-7A44-20E5-F84B-A2CE416F9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657673-6154-55A4-CC27-BEE719C16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2"/>
            <a:ext cx="10551355" cy="1392826"/>
          </a:xfrm>
        </p:spPr>
        <p:txBody>
          <a:bodyPr rtlCol="0" anchor="b">
            <a:normAutofit/>
          </a:bodyPr>
          <a:lstStyle>
            <a:defPPr>
              <a:defRPr lang="pt-BR"/>
            </a:defPPr>
          </a:lstStyle>
          <a:p>
            <a:r>
              <a:rPr lang="pt-BR" dirty="0"/>
              <a:t>Jornada de Contestação de Compra (AS-IS)</a:t>
            </a:r>
          </a:p>
        </p:txBody>
      </p:sp>
      <p:pic>
        <p:nvPicPr>
          <p:cNvPr id="11" name="Imagem 10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10316254-1A31-A0AA-F0A6-91C6763E0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200321"/>
            <a:ext cx="2140768" cy="1329529"/>
          </a:xfrm>
          <a:prstGeom prst="rect">
            <a:avLst/>
          </a:prstGeom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DD520484-40F9-121C-F457-39AAAC374D3C}"/>
              </a:ext>
            </a:extLst>
          </p:cNvPr>
          <p:cNvSpPr txBox="1">
            <a:spLocks/>
          </p:cNvSpPr>
          <p:nvPr/>
        </p:nvSpPr>
        <p:spPr>
          <a:xfrm>
            <a:off x="1345267" y="1826993"/>
            <a:ext cx="4145640" cy="241626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+mj-lt"/>
              <a:buAutoNum type="arabicPeriod"/>
            </a:pPr>
            <a:r>
              <a:rPr lang="pt-BR" sz="1000" dirty="0"/>
              <a:t>Cliente identifica compra não reconhecida no app e recorre ao </a:t>
            </a:r>
            <a:r>
              <a:rPr lang="pt-BR" sz="1000" dirty="0" err="1"/>
              <a:t>call</a:t>
            </a:r>
            <a:r>
              <a:rPr lang="pt-BR" sz="1000" dirty="0"/>
              <a:t> center.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1000" dirty="0"/>
              <a:t>Atendente solicita informações duplicadas (data, valor, loja, contexto (sem consulta automática ao histórico).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1000" dirty="0"/>
              <a:t>Bloqueio do cartão e solicitação de novo cartão exigem confirmação manual.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1000" dirty="0"/>
              <a:t>Prazo de envio do cartão: 2 semanas, sem alternativa omnichannel.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1000" dirty="0"/>
              <a:t>Estorno é processado internamente e comunicado apenas por </a:t>
            </a:r>
            <a:r>
              <a:rPr lang="pt-BR" sz="1000" dirty="0" err="1"/>
              <a:t>push</a:t>
            </a:r>
            <a:r>
              <a:rPr lang="pt-BR" sz="1000" dirty="0"/>
              <a:t> (dependente de notificações ativadas).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1000" dirty="0"/>
              <a:t>Cliente encerra atendimento sem trilha clara de acompanhamento.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3DAA263-CD6C-B04D-BED2-E485F982EB1D}"/>
              </a:ext>
            </a:extLst>
          </p:cNvPr>
          <p:cNvSpPr txBox="1"/>
          <p:nvPr/>
        </p:nvSpPr>
        <p:spPr>
          <a:xfrm>
            <a:off x="2662655" y="1457661"/>
            <a:ext cx="1568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Jornada Atual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DEF0B6BC-1833-34B4-E346-5753C2339444}"/>
              </a:ext>
            </a:extLst>
          </p:cNvPr>
          <p:cNvSpPr txBox="1">
            <a:spLocks/>
          </p:cNvSpPr>
          <p:nvPr/>
        </p:nvSpPr>
        <p:spPr>
          <a:xfrm>
            <a:off x="5668800" y="1826993"/>
            <a:ext cx="4145640" cy="241626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+mj-lt"/>
              <a:buAutoNum type="arabicPeriod"/>
            </a:pPr>
            <a:r>
              <a:rPr lang="pt-BR" sz="1000" dirty="0"/>
              <a:t>Repetição de informações → sensação de despreparo. (Cliente)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1000" dirty="0"/>
              <a:t>Falta de opções multicanais para continuar acompanhando a contestação. (Cliente)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1000" dirty="0"/>
              <a:t>Nenhum mecanismo de autosserviço para contestação rápida, reduzindo atendimento e excesso de validação. (Cliente/Operação)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1000" dirty="0"/>
              <a:t>Muito tempo gasto coletando/validando dados que já existem no sistema e deveria subir em tela. (Operação)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1000" dirty="0"/>
              <a:t>Falta de integração multicanal → o canal primário não antecipa informações para o atendente. (Operação)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32F63E7-AA79-22E0-5EFA-BED6C7064A12}"/>
              </a:ext>
            </a:extLst>
          </p:cNvPr>
          <p:cNvSpPr txBox="1"/>
          <p:nvPr/>
        </p:nvSpPr>
        <p:spPr>
          <a:xfrm>
            <a:off x="6878167" y="1481086"/>
            <a:ext cx="1239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Problemas</a:t>
            </a: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29BC756-0413-19D5-F5E1-03ED0EAC9B5F}"/>
              </a:ext>
            </a:extLst>
          </p:cNvPr>
          <p:cNvSpPr txBox="1">
            <a:spLocks/>
          </p:cNvSpPr>
          <p:nvPr/>
        </p:nvSpPr>
        <p:spPr>
          <a:xfrm>
            <a:off x="3418087" y="4774778"/>
            <a:ext cx="4145640" cy="19812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+mj-lt"/>
              <a:buAutoNum type="arabicPeriod"/>
            </a:pPr>
            <a:r>
              <a:rPr lang="pt-BR" sz="1000" b="1" dirty="0"/>
              <a:t>App</a:t>
            </a:r>
            <a:r>
              <a:rPr lang="pt-BR" sz="1000" dirty="0"/>
              <a:t>: botão “Não reconheço esta compra”, com </a:t>
            </a:r>
            <a:r>
              <a:rPr lang="pt-BR" sz="1000" dirty="0" err="1"/>
              <a:t>pré</a:t>
            </a:r>
            <a:r>
              <a:rPr lang="pt-BR" sz="1000" dirty="0"/>
              <a:t>-coleta automática (data, valor, loja, tipo da transação) e descritivo do motivo. (Cliente)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1000" b="1" dirty="0" err="1"/>
              <a:t>Chatbot</a:t>
            </a:r>
            <a:r>
              <a:rPr lang="pt-BR" sz="1000" dirty="0"/>
              <a:t>: abertura de contestação automatizada com validação segura. (Cliente)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1000" b="1" dirty="0"/>
              <a:t>WhatsApp</a:t>
            </a:r>
            <a:r>
              <a:rPr lang="pt-BR" sz="1000" dirty="0"/>
              <a:t>: acompanhamento da contestação e previsão de estorno via mensagens. (Cliente)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1000" b="1" dirty="0"/>
              <a:t>Portal Web</a:t>
            </a:r>
            <a:r>
              <a:rPr lang="pt-BR" sz="1000" dirty="0"/>
              <a:t>: </a:t>
            </a:r>
            <a:r>
              <a:rPr lang="pt-BR" sz="1000" dirty="0" err="1"/>
              <a:t>timeline</a:t>
            </a:r>
            <a:r>
              <a:rPr lang="pt-BR" sz="1000" dirty="0"/>
              <a:t> do processo + orientações. (Operação)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E86BD9C-22F6-4512-19AE-66F8EDE0071B}"/>
              </a:ext>
            </a:extLst>
          </p:cNvPr>
          <p:cNvSpPr txBox="1"/>
          <p:nvPr/>
        </p:nvSpPr>
        <p:spPr>
          <a:xfrm>
            <a:off x="4661930" y="4390738"/>
            <a:ext cx="1657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Oportunidades</a:t>
            </a:r>
          </a:p>
        </p:txBody>
      </p:sp>
    </p:spTree>
    <p:extLst>
      <p:ext uri="{BB962C8B-B14F-4D97-AF65-F5344CB8AC3E}">
        <p14:creationId xmlns:p14="http://schemas.microsoft.com/office/powerpoint/2010/main" val="1474205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C9FD4-082F-DE2B-BFFB-33F0F1B50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2F9B73-74FB-086A-32AC-263783CA3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2"/>
            <a:ext cx="10551355" cy="1392826"/>
          </a:xfrm>
        </p:spPr>
        <p:txBody>
          <a:bodyPr rtlCol="0" anchor="b">
            <a:normAutofit/>
          </a:bodyPr>
          <a:lstStyle>
            <a:defPPr>
              <a:defRPr lang="pt-BR"/>
            </a:defPPr>
          </a:lstStyle>
          <a:p>
            <a:r>
              <a:rPr lang="pt-BR" dirty="0"/>
              <a:t>Jornada do Futuro - TO-BE PAN</a:t>
            </a:r>
          </a:p>
        </p:txBody>
      </p:sp>
      <p:pic>
        <p:nvPicPr>
          <p:cNvPr id="11" name="Imagem 10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19EE7963-649B-71A7-101C-A5E4C50FB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200321"/>
            <a:ext cx="2140768" cy="1329529"/>
          </a:xfrm>
          <a:prstGeom prst="rect">
            <a:avLst/>
          </a:prstGeom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041184DC-08EB-A531-7413-0C2269661F69}"/>
              </a:ext>
            </a:extLst>
          </p:cNvPr>
          <p:cNvSpPr txBox="1">
            <a:spLocks/>
          </p:cNvSpPr>
          <p:nvPr/>
        </p:nvSpPr>
        <p:spPr>
          <a:xfrm>
            <a:off x="482552" y="1826993"/>
            <a:ext cx="4356147" cy="355204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+mj-lt"/>
              <a:buAutoNum type="arabicPeriod"/>
            </a:pPr>
            <a:r>
              <a:rPr lang="pt-BR" sz="1100" b="1" dirty="0">
                <a:latin typeface="Tenorite (Corpo)"/>
              </a:rPr>
              <a:t>Cliente identifica compra suspeita (App)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pt-BR" sz="1100" dirty="0">
                <a:latin typeface="Tenorite (Corpo)"/>
              </a:rPr>
              <a:t>Um botão ao lado  “</a:t>
            </a:r>
            <a:r>
              <a:rPr lang="pt-BR" sz="1100" b="1" dirty="0">
                <a:solidFill>
                  <a:srgbClr val="FF0000"/>
                </a:solidFill>
                <a:latin typeface="Tenorite (Corpo)"/>
              </a:rPr>
              <a:t>!</a:t>
            </a:r>
            <a:r>
              <a:rPr lang="pt-BR" sz="1100" dirty="0">
                <a:latin typeface="Tenorite (Corpo)"/>
              </a:rPr>
              <a:t>” - Não reconheço essa compra” 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pt-BR" sz="1100" dirty="0">
                <a:latin typeface="Tenorite (Corpo)"/>
              </a:rPr>
              <a:t>O Sistema irá carregar outra página com todos os dados da transação e por meio de uma lista suspensa sugere o tipo de contestação + um campo de texto com um descritivo.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1100" dirty="0">
                <a:latin typeface="Tenorite (Corpo)"/>
              </a:rPr>
              <a:t>Validação e bloqueio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pt-BR" sz="1100" dirty="0">
                <a:latin typeface="Tenorite (Corpo)"/>
              </a:rPr>
              <a:t>Em seguida o APP sugere o bloqueio do cartão em 1 clique – processo realizado de forma instantânea.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pt-BR" sz="1100" dirty="0">
                <a:latin typeface="Tenorite (Corpo)"/>
              </a:rPr>
              <a:t>Cartão virtual e apresentado em tela com status ativo de forma imediata para uso.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pt-BR" sz="1100" dirty="0">
                <a:latin typeface="Tenorite (Corpo)"/>
              </a:rPr>
              <a:t>Emissão automática de novo cartão físico com </a:t>
            </a:r>
            <a:r>
              <a:rPr lang="pt-BR" sz="1100" dirty="0" err="1">
                <a:latin typeface="Tenorite (Corpo)"/>
              </a:rPr>
              <a:t>check</a:t>
            </a:r>
            <a:r>
              <a:rPr lang="pt-BR" sz="1100" dirty="0">
                <a:latin typeface="Tenorite (Corpo)"/>
              </a:rPr>
              <a:t> de prioridade de envio (3-7 dias úteis).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1100" dirty="0">
                <a:latin typeface="Tenorite (Corpo)"/>
              </a:rPr>
              <a:t>Registro da Contestação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pt-BR" sz="1100" dirty="0">
                <a:latin typeface="Tenorite (Corpo)"/>
              </a:rPr>
              <a:t> Contestação registrada sem interação humana.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pt-BR" sz="1100" dirty="0">
                <a:latin typeface="Tenorite (Corpo)"/>
              </a:rPr>
              <a:t>Acompanhamento multicanal bidirecional sobre atualizações até o encerramento total.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E835771-0F70-7FBD-9D3F-B0C6F9478905}"/>
              </a:ext>
            </a:extLst>
          </p:cNvPr>
          <p:cNvSpPr txBox="1"/>
          <p:nvPr/>
        </p:nvSpPr>
        <p:spPr>
          <a:xfrm>
            <a:off x="1914555" y="194382"/>
            <a:ext cx="3955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1. Novo fluxo omnichannel desenhado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59FC1139-C6A2-AA5F-4E21-DF59D53D833C}"/>
              </a:ext>
            </a:extLst>
          </p:cNvPr>
          <p:cNvSpPr txBox="1">
            <a:spLocks/>
          </p:cNvSpPr>
          <p:nvPr/>
        </p:nvSpPr>
        <p:spPr>
          <a:xfrm>
            <a:off x="4975380" y="1826993"/>
            <a:ext cx="4145640" cy="194490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+mj-lt"/>
              <a:buAutoNum type="arabicPeriod"/>
            </a:pPr>
            <a:r>
              <a:rPr lang="pt-BR" sz="1000" dirty="0" err="1"/>
              <a:t>Pré</a:t>
            </a:r>
            <a:r>
              <a:rPr lang="pt-BR" sz="1000" dirty="0"/>
              <a:t>-coleta automática de dados da compra reclamada.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1000" dirty="0" err="1"/>
              <a:t>Autoserviço</a:t>
            </a:r>
            <a:r>
              <a:rPr lang="pt-BR" sz="1000" dirty="0"/>
              <a:t> multicanal.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1000" dirty="0"/>
              <a:t>Histórico integrado Omnichannel.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1000" dirty="0"/>
              <a:t>Comunicação personalizada (</a:t>
            </a:r>
            <a:r>
              <a:rPr lang="pt-BR" sz="1000" dirty="0" err="1"/>
              <a:t>push</a:t>
            </a:r>
            <a:r>
              <a:rPr lang="pt-BR" sz="1000" dirty="0"/>
              <a:t> + WhatsApp + SMS + App + Telefone).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1000" dirty="0"/>
              <a:t>Cartão virtual e emissão emitido de forma </a:t>
            </a:r>
            <a:r>
              <a:rPr lang="pt-BR" sz="1000" dirty="0" err="1"/>
              <a:t>automatica</a:t>
            </a:r>
            <a:r>
              <a:rPr lang="pt-BR" sz="1000" dirty="0"/>
              <a:t> ao relato de contestação.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1000" dirty="0"/>
              <a:t>Acompanhamento em tempo real.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77C595C-5FE7-93F9-8332-1F77CAB34A12}"/>
              </a:ext>
            </a:extLst>
          </p:cNvPr>
          <p:cNvSpPr txBox="1"/>
          <p:nvPr/>
        </p:nvSpPr>
        <p:spPr>
          <a:xfrm>
            <a:off x="5620469" y="1487679"/>
            <a:ext cx="2855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Implementações Adotadas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750390B-04E2-4B07-B7AC-E7FC1D627723}"/>
              </a:ext>
            </a:extLst>
          </p:cNvPr>
          <p:cNvSpPr txBox="1"/>
          <p:nvPr/>
        </p:nvSpPr>
        <p:spPr>
          <a:xfrm>
            <a:off x="1382166" y="1461353"/>
            <a:ext cx="2556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Novo Fluxo contestação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4D50493E-7FBF-9799-145F-52CC2175EB12}"/>
              </a:ext>
            </a:extLst>
          </p:cNvPr>
          <p:cNvSpPr txBox="1">
            <a:spLocks/>
          </p:cNvSpPr>
          <p:nvPr/>
        </p:nvSpPr>
        <p:spPr>
          <a:xfrm>
            <a:off x="4975380" y="4169022"/>
            <a:ext cx="4145640" cy="194490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+mj-lt"/>
              <a:buAutoNum type="arabicPeriod"/>
            </a:pPr>
            <a:r>
              <a:rPr lang="pt-BR" sz="1000" dirty="0"/>
              <a:t>FCR – </a:t>
            </a:r>
            <a:r>
              <a:rPr lang="pt-BR" sz="1000" dirty="0" err="1"/>
              <a:t>First</a:t>
            </a:r>
            <a:r>
              <a:rPr lang="pt-BR" sz="1000" dirty="0"/>
              <a:t> Contact </a:t>
            </a:r>
            <a:r>
              <a:rPr lang="pt-BR" sz="1000" dirty="0" err="1"/>
              <a:t>Resolution</a:t>
            </a:r>
            <a:r>
              <a:rPr lang="pt-BR" sz="1000" dirty="0"/>
              <a:t>)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1000" dirty="0"/>
              <a:t>TMA da Central (Redução na volumetria do tipo de atendimento).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1000" dirty="0"/>
              <a:t>SLA de estorno (Com processos automatizados – </a:t>
            </a:r>
            <a:r>
              <a:rPr lang="pt-BR" sz="1000" dirty="0" err="1"/>
              <a:t>ppodem</a:t>
            </a:r>
            <a:r>
              <a:rPr lang="pt-BR" sz="1000" dirty="0"/>
              <a:t> ser revistos, exemplo 5 dias).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1000" dirty="0"/>
              <a:t>% de </a:t>
            </a:r>
            <a:r>
              <a:rPr lang="pt-BR" sz="1000" dirty="0" err="1"/>
              <a:t>autoserviço</a:t>
            </a:r>
            <a:r>
              <a:rPr lang="pt-BR" sz="1000" dirty="0"/>
              <a:t> estipular meta+70%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1000" dirty="0"/>
              <a:t>Redução no tempo médio de entrega de cartão em casos de contestação (podendo ser </a:t>
            </a:r>
            <a:r>
              <a:rPr lang="pt-BR" sz="1000" dirty="0" err="1"/>
              <a:t>extendido</a:t>
            </a:r>
            <a:r>
              <a:rPr lang="pt-BR" sz="1000" dirty="0"/>
              <a:t> para outros motivos).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1000" dirty="0"/>
              <a:t>Acompanhamento em tempo real.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5F83508-6008-270C-D5DB-9E500212FFC5}"/>
              </a:ext>
            </a:extLst>
          </p:cNvPr>
          <p:cNvSpPr txBox="1"/>
          <p:nvPr/>
        </p:nvSpPr>
        <p:spPr>
          <a:xfrm>
            <a:off x="5087920" y="3785795"/>
            <a:ext cx="3920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Indicadores de Eficiência Operacional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37437AA-AD36-622B-51F5-A8C9C692D8DA}"/>
              </a:ext>
            </a:extLst>
          </p:cNvPr>
          <p:cNvSpPr txBox="1"/>
          <p:nvPr/>
        </p:nvSpPr>
        <p:spPr>
          <a:xfrm>
            <a:off x="9349141" y="2518774"/>
            <a:ext cx="28428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Ganhos Reais: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Redução de custos operacionais (menos ligações);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Retenção e engajamento no app (cartão virtual)</a:t>
            </a:r>
          </a:p>
        </p:txBody>
      </p:sp>
    </p:spTree>
    <p:extLst>
      <p:ext uri="{BB962C8B-B14F-4D97-AF65-F5344CB8AC3E}">
        <p14:creationId xmlns:p14="http://schemas.microsoft.com/office/powerpoint/2010/main" val="3718520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0878" y="3006685"/>
            <a:ext cx="3103056" cy="1021069"/>
          </a:xfrm>
        </p:spPr>
        <p:txBody>
          <a:bodyPr rtlCol="0" anchor="b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sz="5400" dirty="0"/>
              <a:t>Obrigado</a:t>
            </a:r>
          </a:p>
        </p:txBody>
      </p:sp>
      <p:pic>
        <p:nvPicPr>
          <p:cNvPr id="2" name="Imagem 1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CC28458A-5811-098C-198E-3306C37633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81" r="6120" b="2"/>
          <a:stretch>
            <a:fillRect/>
          </a:stretch>
        </p:blipFill>
        <p:spPr>
          <a:xfrm>
            <a:off x="1227783" y="1596348"/>
            <a:ext cx="4663440" cy="333283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3135269_TF45331398_Win32" id="{3328EF41-B506-4E00-9D52-63C1C58F8F8A}" vid="{23365FC3-F6F7-46B3-8D20-6B432682BE5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{DC5F1CFE-B53D-4FED-8DC4-E5D9C8AC0212}TF0e83fa2d-9a66-4e5e-9e82-acc620be7a4962faad44_win32-3b4eb8df11a1</Template>
  <TotalTime>732</TotalTime>
  <Words>966</Words>
  <Application>Microsoft Office PowerPoint</Application>
  <PresentationFormat>Widescreen</PresentationFormat>
  <Paragraphs>109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Arial</vt:lpstr>
      <vt:lpstr>Calibri</vt:lpstr>
      <vt:lpstr>Tenorite</vt:lpstr>
      <vt:lpstr>Tenorite (Corpo)</vt:lpstr>
      <vt:lpstr>Tenorite (Títulos)</vt:lpstr>
      <vt:lpstr>Personalizado</vt:lpstr>
      <vt:lpstr>Atendimento a Clientes Banking e Canais Críticos</vt:lpstr>
      <vt:lpstr>1 - Análise Geral (Insights)</vt:lpstr>
      <vt:lpstr>2 – Oportunidades de Negócio &amp; impacto estimado </vt:lpstr>
      <vt:lpstr>3 – Uso de IA para responder em mídias sociais</vt:lpstr>
      <vt:lpstr>[A] MVP - API - Instagram Graph API</vt:lpstr>
      <vt:lpstr>[B] MVP – SIMULAÇÃO DE INTERAÇÃO</vt:lpstr>
      <vt:lpstr>4 - Melhoria de jornada de contestação de compra</vt:lpstr>
      <vt:lpstr>Jornada de Contestação de Compra (AS-IS)</vt:lpstr>
      <vt:lpstr>Jornada do Futuro - TO-BE PAN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Eduardo Cardoso dos Reis</dc:creator>
  <cp:lastModifiedBy>Eduardo Cardoso dos Reis</cp:lastModifiedBy>
  <cp:revision>7</cp:revision>
  <dcterms:created xsi:type="dcterms:W3CDTF">2025-11-15T18:36:37Z</dcterms:created>
  <dcterms:modified xsi:type="dcterms:W3CDTF">2025-11-19T11:29:42Z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